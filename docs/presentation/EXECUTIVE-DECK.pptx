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One-line pitch — VibeFlow turns "vibe coding" with AI into a governed, auditable delivery pipeline. It is shipping today (v2.18.0), not a concept.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pain is not "can AI code?" — it obviously can. The pain is governance, correctness, and trust at delivery time. Frame this for a buyer who has already adopted AI coding and is now nervous about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slide short and sharp. The number to anchor on is the cost-of-defect curve — everyone in the room intuitively knows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four pillars. Everything else in the deck is evidence for one of them. Memorize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"scope" slide — it shows VibeFlow is not a point tool. Don't read the table; let it land visually and emphasize the gate concept.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competitive slide. The two rows that close deals are "Multi-AI consensus" and "100% local / no data leaves" — lead with whichever matters more to this specific buyer.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phrase to use out loud is "no silent passes." Regulated buyers care enormously that the system escalates to a human instead of guessing.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differentiates VibeFlow for serious industries. The point: governance is risk-proportional, configurable, and defensible to an auditor.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"moat" slide. Emphasize the safety rails — bounded, allow-listed, auto-reverting. Autonomy without a kill switch scares buyers; autonomy *with* one excites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security-conscious or IP-sensitive orgs, this is often the deciding slide. "It's a plugin, your files, your Git" removes the procurement/security-review barrier that kills most AI-tool deals.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Credibility slide. The 2,943-tests number does a lot of work — it signals this isn't a weekend prototype. Mention the sample projects so they know it runs end-to-end.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ROI slide — translate features into outcomes a sponsor reports upward. Pick the two outcomes that match this org's stated pain.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Lower the perceived adoption cost. The message: you don't have to swallow all 7 phases on day one — land with PRD scoring or release decisions and grow.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Always close with a concrete, low-commitment ask. The live walkthrough on *their* PRD is the highest-converting next step — it makes the value tangible in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144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VibeFlow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AI-Orchestrated Software Delivery — with quality built in, not bolted 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Claude Code plugin that runs your full SDLC through multi-AI consensus and truth-validated requirements.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520440"/>
            <a:ext cx="817474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520440"/>
            <a:ext cx="8174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v2.18.0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658722" y="3520440"/>
            <a:ext cx="1267358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58722" y="3520440"/>
            <a:ext cx="12673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SDLC phases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27248" y="3520440"/>
            <a:ext cx="967435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27248" y="3520440"/>
            <a:ext cx="9674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engines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295851" y="3520440"/>
            <a:ext cx="1342339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5851" y="3520440"/>
            <a:ext cx="13423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self-improving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839358" y="3520440"/>
            <a:ext cx="1042416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39358" y="3520440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local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766560" y="48280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VibeFlow v2.18.0   ·   1 / 14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writes code fast. It does not guarantee you shipped the right thing, safely.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F2"/>
            </a:solidFill>
            <a:prstDash val="solid"/>
          </a:ln>
          <a:effectLst>
            <a:outerShdw sx="100000" sy="100000" kx="0" ky="0" algn="bl" rotWithShape="0" blurRad="88900" dist="25400" dir="81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508760"/>
            <a:ext cx="73152" cy="1508760"/>
          </a:xfrm>
          <a:prstGeom prst="rect">
            <a:avLst/>
          </a:prstGeom>
          <a:solidFill>
            <a:srgbClr val="F4A25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5506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Ambiguous requirements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straight into code — defects are born in the PRD, not the IDE.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09160" y="150876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F2"/>
            </a:solidFill>
            <a:prstDash val="solid"/>
          </a:ln>
          <a:effectLst>
            <a:outerShdw sx="100000" sy="100000" kx="0" ky="0" algn="bl" rotWithShape="0" blurRad="88900" dist="25400" dir="810000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508760"/>
            <a:ext cx="73152" cy="1508760"/>
          </a:xfrm>
          <a:prstGeom prst="rect">
            <a:avLst/>
          </a:prstGeom>
          <a:solidFill>
            <a:srgbClr val="F4A259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65506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single AI model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937760" y="201168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confidently wrong; no second opinion, no audit trail.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20040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F2"/>
            </a:solidFill>
            <a:prstDash val="solid"/>
          </a:ln>
          <a:effectLst>
            <a:outerShdw sx="100000" sy="100000" kx="0" ky="0" algn="bl" rotWithShape="0" blurRad="88900" dist="25400" dir="8100000">
              <a:srgbClr val="1E2761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3200400"/>
            <a:ext cx="73152" cy="1508760"/>
          </a:xfrm>
          <a:prstGeom prst="rect">
            <a:avLst/>
          </a:prstGeom>
          <a:solidFill>
            <a:srgbClr val="F4A259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34670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Quality is an afterthought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31520" y="370332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and release checks happen at the end, when fixes are expensive.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709160" y="320040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F2"/>
            </a:solidFill>
            <a:prstDash val="solid"/>
          </a:ln>
          <a:effectLst>
            <a:outerShdw sx="100000" sy="100000" kx="0" ky="0" algn="bl" rotWithShape="0" blurRad="88900" dist="25400" dir="8100000">
              <a:srgbClr val="1E2761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3200400"/>
            <a:ext cx="73152" cy="1508760"/>
          </a:xfrm>
          <a:prstGeom prst="rect">
            <a:avLst/>
          </a:prstGeom>
          <a:solidFill>
            <a:srgbClr val="F4A259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334670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memory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937760" y="370332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re-litigate the same review points sprint after sprint.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766560" y="48280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VibeFlow v2.18.0   ·   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cost of getting it wrong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3017520" cy="27432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81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5544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5–10×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to fix a defect in the PRD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in production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931920" y="1280160"/>
            <a:ext cx="4709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F2"/>
            </a:solidFill>
            <a:prstDash val="solid"/>
          </a:ln>
          <a:effectLst>
            <a:outerShdw sx="100000" sy="100000" kx="0" ky="0" algn="bl" rotWithShape="0" blurRad="88900" dist="25400" dir="810000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60520" y="140817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 event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160520" y="173736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wrong release decision in a regulated domain (finance, health) is a compliance event, not a bug.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931920" y="2606040"/>
            <a:ext cx="4709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F2"/>
            </a:solidFill>
            <a:prstDash val="solid"/>
          </a:ln>
          <a:effectLst>
            <a:outerShdw sx="100000" sy="100000" kx="0" ky="0" algn="bl" rotWithShape="0" blurRad="88900" dist="25400" dir="810000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60520" y="273405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Unauditable risk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160520" y="306324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“the AI said it was fine” with no record is unauditable risk.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4069080"/>
            <a:ext cx="813816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069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bottleneck has moved from writing code to trusting it.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766560" y="48280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VibeFlow v2.18.0   ·   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VibeFlow governs the whole lifecycle — requirements to release — as one orchestrated, auditable loop.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F2"/>
            </a:solidFill>
            <a:prstDash val="solid"/>
          </a:ln>
          <a:effectLst>
            <a:outerShdw sx="100000" sy="100000" kx="0" ky="0" algn="bl" rotWithShape="0" blurRad="88900" dist="25400" dir="81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16916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704088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172821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Truth-driven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are the source of truth. Untestable requirements block development.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09160" y="150876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F2"/>
            </a:solidFill>
            <a:prstDash val="solid"/>
          </a:ln>
          <a:effectLst>
            <a:outerShdw sx="100000" sy="100000" kx="0" ky="0" algn="bl" rotWithShape="0" blurRad="88900" dist="25400" dir="8100000">
              <a:srgbClr val="1E276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10328" y="16916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4910328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532120" y="172821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Consensus-based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937760" y="22402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critical artifact is reviewed by multiple AIs (Claude + ChatGPT + Gemini), not one.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320040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F2"/>
            </a:solidFill>
            <a:prstDash val="solid"/>
          </a:ln>
          <a:effectLst>
            <a:outerShdw sx="100000" sy="100000" kx="0" ky="0" algn="bl" rotWithShape="0" blurRad="88900" dist="25400" dir="8100000">
              <a:srgbClr val="1E2761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4088" y="338328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341985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Quality-gated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31520" y="39319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gates at every phase boundary; nothing advances on a hunch.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709160" y="320040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F2"/>
            </a:solidFill>
            <a:prstDash val="solid"/>
          </a:ln>
          <a:effectLst>
            <a:outerShdw sx="100000" sy="100000" kx="0" ky="0" algn="bl" rotWithShape="0" blurRad="88900" dist="25400" dir="8100000">
              <a:srgbClr val="1E2761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10328" y="338328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4910328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532120" y="341985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Self-improving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937760" y="39319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learns from its own review history and tunes itself, safely.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766560" y="48280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VibeFlow v2.18.0   ·   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7-phase governed pipeline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24128"/>
          <a:ext cx="81381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8521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Phase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What VibeFlow guarantees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Requirements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Testability scored; ambiguity flagged; score &lt; 60 blocks the build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Design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Wireframes, design tokens, accessibility checks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· Architecture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records (ADRs), 3-AI vote, formal verification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· Planning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Epic breakdown, dependency graph, test strategy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· Development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with automatic quality gates on every commit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· Testing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Coverage, mutation testing, chaos injection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· Deployment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 / CONDITIONAL / BLOCKED release decision + rollback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224528"/>
            <a:ext cx="813816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422452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Each boundary is a gate. You always know why you advanced.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766560" y="48280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VibeFlow v2.18.0   ·   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makes it different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97280"/>
          <a:ext cx="81381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108960"/>
                <a:gridCol w="3383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Single-AI coding tools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93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VibeFlow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model's opinion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Multi-AI consensus with quorum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Trusted as-is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Scored &amp; gated (testability)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generation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SDLC, 7 phases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“It looked right”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Auditable decision trail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Learns &amp; self-tunes (with auto-revert)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laptop / their cloud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local, no data leaves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766560" y="48280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VibeFlow v2.18.0   ·   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Consensus you can trust — and audit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0584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10512" y="100584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F4A259"/>
          </a:solidFill>
          <a:ln/>
        </p:spPr>
      </p:sp>
      <p:sp>
        <p:nvSpPr>
          <p:cNvPr id="7" name="Text 5"/>
          <p:cNvSpPr/>
          <p:nvPr/>
        </p:nvSpPr>
        <p:spPr>
          <a:xfrm>
            <a:off x="1810512" y="10058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NEEDS_REVISION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66744" y="100584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3666744" y="100584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REJECTED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974336" y="1005840"/>
            <a:ext cx="251460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974336" y="10058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HUMAN_APPROVAL_REQUIRED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1719072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16276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panel verdicts — </a:t>
            </a:r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artifacts get APPROVED / NEEDS_REVISION / REJECTED by an AI panel.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2340864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249424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negotiation — </a:t>
            </a:r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Disagreement triggers a negotiation loop until the panel converges — or a human is asked to decide.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2962656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2871216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history — </a:t>
            </a:r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verdict is recorded to disk — a durable, reviewable history.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" y="3584448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493008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escalation — </a:t>
            </a:r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AIs can't agree, the status is explicit: HUMAN_APPROVAL_REQUIRED — never a silent pass.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4160520"/>
            <a:ext cx="813816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1605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black-box “trust me.” Every gate has a paper trail.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66560" y="48280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VibeFlow v2.18.0   ·   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for regulated, high-stakes domains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VibeFlow tunes its release bar to the domain's risk: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19202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F2"/>
            </a:solidFill>
            <a:prstDash val="solid"/>
          </a:ln>
          <a:effectLst>
            <a:outerShdw sx="100000" sy="100000" kx="0" ky="0" algn="bl" rotWithShape="0" blurRad="88900" dist="25400" dir="81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417320"/>
            <a:ext cx="192024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417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Healthcare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≥ 95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02920" y="2788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threshold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3108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 (30%)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78608" y="1417320"/>
            <a:ext cx="19202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F2"/>
            </a:solidFill>
            <a:prstDash val="solid"/>
          </a:ln>
          <a:effectLst>
            <a:outerShdw sx="100000" sy="100000" kx="0" ky="0" algn="bl" rotWithShape="0" blurRad="88900" dist="25400" dir="8100000">
              <a:srgbClr val="1E2761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78608" y="1417320"/>
            <a:ext cx="192024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2578608" y="1417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Financial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578608" y="20574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≥ 90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2578608" y="2788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threshold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70048" y="3108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Invariants (25%)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54296" y="1417320"/>
            <a:ext cx="19202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F2"/>
            </a:solidFill>
            <a:prstDash val="solid"/>
          </a:ln>
          <a:effectLst>
            <a:outerShdw sx="100000" sy="100000" kx="0" ky="0" algn="bl" rotWithShape="0" blurRad="88900" dist="25400" dir="8100000">
              <a:srgbClr val="1E2761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54296" y="1417320"/>
            <a:ext cx="192024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4654296" y="1417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E-commerce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654296" y="20574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≥ 85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4654296" y="2788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threshold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45736" y="3108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User-acceptance (25%)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29984" y="1417320"/>
            <a:ext cx="19202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F2"/>
            </a:solidFill>
            <a:prstDash val="solid"/>
          </a:ln>
          <a:effectLst>
            <a:outerShdw sx="100000" sy="100000" kx="0" ky="0" algn="bl" rotWithShape="0" blurRad="88900" dist="25400" dir="8100000">
              <a:srgbClr val="1E2761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29984" y="1417320"/>
            <a:ext cx="192024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729984" y="1417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General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729984" y="20574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≥ 80</a:t>
            </a:r>
            <a:endParaRPr lang="en-US" sz="3800" dirty="0"/>
          </a:p>
        </p:txBody>
      </p:sp>
      <p:sp>
        <p:nvSpPr>
          <p:cNvPr id="27" name="Text 25"/>
          <p:cNvSpPr/>
          <p:nvPr/>
        </p:nvSpPr>
        <p:spPr>
          <a:xfrm>
            <a:off x="6729984" y="2788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threshold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21424" y="3108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" y="402336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healthcare release and a marketing-site release are not held to the same bar — and shouldn't be.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766560" y="48280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VibeFlow v2.18.0   ·   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gets better the more you use it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VibeFlow closes a learning loop most tools never attempt: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499616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417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Mines </a:t>
            </a:r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consensus history for recurring problems and slow-converging phases.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929384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Remembers </a:t>
            </a:r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review points so reviewers stop repeating themselves.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523744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4144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Auto-tunes </a:t>
            </a:r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configuration — within strict, allow-listed bounds.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3035808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95351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Auto-reverts </a:t>
            </a:r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change that makes outcomes worse, and learns to stop trying it.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66928" y="3547872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46557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(optional) </a:t>
            </a:r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privacy-safe signals across projects — no code, no content, ever.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02920" y="4114800"/>
            <a:ext cx="813816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114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 autonomy: it can act on its own, but it can always undo itself.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766560" y="48280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VibeFlow v2.18.0   ·   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IP never leaves the building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3931920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3240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188720"/>
            <a:ext cx="73152" cy="1554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5331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Runs entirely on your machines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847088"/>
            <a:ext cx="35204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laptop or your CI — it's a plugin, not a SaaS.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09160" y="1188720"/>
            <a:ext cx="3931920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3240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1188720"/>
            <a:ext cx="73152" cy="1554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35331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is plain files in your repo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847088"/>
            <a:ext cx="35204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by Git, owned by you, fully portable.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2926080"/>
            <a:ext cx="3931920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3240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926080"/>
            <a:ext cx="73152" cy="1554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09067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external database, no lock-in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3584448"/>
            <a:ext cx="35204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vendor database, no telemetry by default.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709160" y="2926080"/>
            <a:ext cx="3931920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32407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2926080"/>
            <a:ext cx="73152" cy="1554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309067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Privacy-safe sharing (opt-in)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3584448"/>
            <a:ext cx="35204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Cross-project learning shares only one-way hashes and outcomes — never source, file names, or content.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766560" y="48280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VibeFlow v2.18.0   ·   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Proof: this is real and hardened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9202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F2"/>
            </a:solidFill>
            <a:prstDash val="solid"/>
          </a:ln>
          <a:effectLst>
            <a:outerShdw sx="100000" sy="100000" kx="0" ky="0" algn="bl" rotWithShape="0" blurRad="88900" dist="25400" dir="81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3716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2,943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94360" y="23774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on every release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78608" y="1188720"/>
            <a:ext cx="19202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F2"/>
            </a:solidFill>
            <a:prstDash val="solid"/>
          </a:ln>
          <a:effectLst>
            <a:outerShdw sx="100000" sy="100000" kx="0" ky="0" algn="bl" rotWithShape="0" blurRad="88900" dist="25400" dir="810000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78608" y="13716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2670048" y="23774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layers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engineering sprints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54296" y="1188720"/>
            <a:ext cx="19202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F2"/>
            </a:solidFill>
            <a:prstDash val="solid"/>
          </a:ln>
          <a:effectLst>
            <a:outerShdw sx="100000" sy="100000" kx="0" ky="0" algn="bl" rotWithShape="0" blurRad="88900" dist="25400" dir="810000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54296" y="13716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40+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4745736" y="23774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skills,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analysis engines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29984" y="1188720"/>
            <a:ext cx="19202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F2"/>
            </a:solidFill>
            <a:prstDash val="solid"/>
          </a:ln>
          <a:effectLst>
            <a:outerShdw sx="100000" sy="100000" kx="0" ky="0" algn="bl" rotWithShape="0" blurRad="88900" dist="25400" dir="8100000">
              <a:srgbClr val="1E2761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9984" y="13716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821424" y="23774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sub-agents,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demo apps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6118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v2.18.0 shipped — feature-complete autonomous-loop arc, validated end-to-end on real sample projects.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4114800"/>
            <a:ext cx="8138160" cy="54864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114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maturing product with a test discipline most internal tools never reach.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66560" y="48280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VibeFlow v2.18.0   ·   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it pays off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152144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152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escaped defects  </a:t>
            </a:r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Caught at the PRD, not in production.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1865376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65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1810512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defensible release decisions  </a:t>
            </a:r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GO/BLOCKED with evidence, not debate.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66928" y="2578608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578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2523744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review fatigue  </a:t>
            </a:r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system remembers, so your people don't repeat.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66928" y="3291840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3291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3236976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 by default  </a:t>
            </a:r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Every gate and verdict is on disk.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66928" y="4005072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4005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3950208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Compounding returns  </a:t>
            </a:r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It tunes itself, so month 6 is better than month 1.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766560" y="48280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VibeFlow v2.18.0   ·   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it fits today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6060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F2"/>
            </a:solidFill>
            <a:prstDash val="solid"/>
          </a:ln>
          <a:effectLst>
            <a:outerShdw sx="100000" sy="100000" kx="0" ky="0" algn="bl" rotWithShape="0" blurRad="88900" dist="25400" dir="81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88720"/>
            <a:ext cx="260604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887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fit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teams that need governance, auditability, and quality gates — especially in regulated or high-stakes domains.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73552" y="1188720"/>
            <a:ext cx="26060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F2"/>
            </a:solidFill>
            <a:prstDash val="solid"/>
          </a:ln>
          <a:effectLst>
            <a:outerShdw sx="100000" sy="100000" kx="0" ky="0" algn="bl" rotWithShape="0" blurRad="88900" dist="25400" dir="8100000">
              <a:srgbClr val="1E2761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73552" y="1188720"/>
            <a:ext cx="260604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3273552" y="11887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Deploys as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456432" y="178308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Claude Code plugin — install in minutes, no infrastructure.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44184" y="1188720"/>
            <a:ext cx="26060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F2"/>
            </a:solidFill>
            <a:prstDash val="solid"/>
          </a:ln>
          <a:effectLst>
            <a:outerShdw sx="100000" sy="100000" kx="0" ky="0" algn="bl" rotWithShape="0" blurRad="88900" dist="25400" dir="8100000">
              <a:srgbClr val="1E2761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44184" y="1188720"/>
            <a:ext cx="260604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044184" y="11887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Adopt incrementally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227064" y="178308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at any single phase (e.g. PRD quality scoring), expand to the full loop.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3931920"/>
            <a:ext cx="8138160" cy="64008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9319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Low-risk entry, high-ceiling value.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66560" y="48280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VibeFlow v2.18.0   ·   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 &amp; next steps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VibeFlow makes AI-driven delivery governable: truth-validated, multi-AI reviewed, quality-gated, self-improving — and 100% yours.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201168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80160" y="20116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30-minute live walkthrough on one of your real PRDs.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78892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80160" y="27889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on a single phase (PRD quality or release decision).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80160" y="3566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success metrics (escaped-defect rate, release-decision time).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766560" y="48280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VibeFlow v2.18.0   ·   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VibeFlow — Executive Deck</dc:title>
  <dc:subject>PptxGenJS Presentation</dc:subject>
  <dc:creator>VibeFlow</dc:creator>
  <cp:lastModifiedBy>VibeFlow</cp:lastModifiedBy>
  <cp:revision>1</cp:revision>
  <dcterms:created xsi:type="dcterms:W3CDTF">2026-06-05T17:31:20Z</dcterms:created>
  <dcterms:modified xsi:type="dcterms:W3CDTF">2026-06-05T17:31:20Z</dcterms:modified>
</cp:coreProperties>
</file>